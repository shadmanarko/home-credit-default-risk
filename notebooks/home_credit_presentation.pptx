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500" b="0" i="0" u="none" strike="noStrike">
                <a:solidFill>
                  <a:srgbClr val="1E2761"/>
                </a:solidFill>
                <a:latin typeface="Arial"/>
              </a:rPr>
              <a:t>TARGET distribution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Applicants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C72B0"/>
              </a:solidFill>
              <a:effectLst/>
            </c:spPr>
          </c:dPt>
          <c:dPt>
            <c:idx val="1"/>
            <c:bubble3D val="0"/>
            <c:spPr>
              <a:solidFill>
                <a:srgbClr val="C44E52"/>
              </a:solidFill>
              <a:effectLst/>
            </c:spPr>
          </c:dPt>
          <c:dLbls>
            <c:dLbl>
              <c:idx val="0"/>
              <c:numFmt formatCode="0.0&quot;%&quot;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.0&quot;%&quot;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Repaid without difficulty</c:v>
                </c:pt>
                <c:pt idx="1">
                  <c:v>Defaulted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91.9</c:v>
                </c:pt>
                <c:pt idx="1">
                  <c:v>8.1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333333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E2761"/>
                </a:solidFill>
                <a:latin typeface="Arial"/>
              </a:rPr>
              <a:t>Model score (0.5 = coin flip, 1.0 = perfect)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Validation score</c:v>
                </c:pt>
              </c:strCache>
            </c:strRef>
          </c:tx>
          <c:spPr>
            <a:solidFill>
              <a:srgbClr val="6B7A99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B7A9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C72B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Random guess</c:v>
                  </c:pt>
                  <c:pt idx="1">
                    <c:v>Simple model
(Logistic Regression)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0.5</c:v>
                </c:pt>
                <c:pt idx="1">
                  <c:v>0.7489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4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1270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Cross-validated score</c:v>
                </c:pt>
              </c:strCache>
            </c:strRef>
          </c:tx>
          <c:spPr>
            <a:solidFill>
              <a:srgbClr val="6B7A99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B7A9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C72B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C72B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2A65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44E52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Random
guess</c:v>
                  </c:pt>
                  <c:pt idx="1">
                    <c:v>Simple model
(app only)</c:v>
                  </c:pt>
                  <c:pt idx="2">
                    <c:v>Simple model
(+ history)</c:v>
                  </c:pt>
                  <c:pt idx="3">
                    <c:v>XGBoost
(+ history)</c:v>
                  </c:pt>
                  <c:pt idx="4">
                    <c:v>LightGBM
(+ history)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0.5</c:v>
                </c:pt>
                <c:pt idx="1">
                  <c:v>0.7442</c:v>
                </c:pt>
                <c:pt idx="2">
                  <c:v>0.755</c:v>
                </c:pt>
                <c:pt idx="3">
                  <c:v>0.7579</c:v>
                </c:pt>
                <c:pt idx="4">
                  <c:v>0.7747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3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1270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model's decision weight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External credit
scores (x3)</c:v>
                  </c:pt>
                  <c:pt idx="1">
                    <c:v>Credit-to-annuity
ratio</c:v>
                  </c:pt>
                  <c:pt idx="2">
                    <c:v>Late payment
rate</c:v>
                  </c:pt>
                  <c:pt idx="3">
                    <c:v>Goods price to
credit ratio</c:v>
                  </c:pt>
                  <c:pt idx="4">
                    <c:v>Card utilization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48</c:v>
                </c:pt>
                <c:pt idx="1">
                  <c:v>5.3</c:v>
                </c:pt>
                <c:pt idx="2">
                  <c:v>3.1</c:v>
                </c:pt>
                <c:pt idx="3">
                  <c:v>2.8</c:v>
                </c:pt>
                <c:pt idx="4">
                  <c:v>2.8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 Credit Default Risk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32918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who can safely be approved for a loan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walkthrough — non-technical summary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02920"/>
            <a:ext cx="146304" cy="146304"/>
          </a:xfrm>
          <a:prstGeom prst="ellipse">
            <a:avLst/>
          </a:prstGeom>
          <a:solidFill>
            <a:srgbClr val="C44E52"/>
          </a:solidFill>
          <a:ln w="12700">
            <a:solidFill>
              <a:srgbClr val="C44E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320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can we safely lend to?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6217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Credit serves people who often don't have a traditional credit history — applicants a typical bank might turn away simply for lack of data.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200400"/>
            <a:ext cx="5120640" cy="237744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3429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someone risky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388620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default — the business loses money on collections and unpaid principal.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09360" y="3200400"/>
            <a:ext cx="5120640" cy="237744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3429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7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someone reliable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83680" y="388620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would have repaid fine — lost revenue and a good customer turned away.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can rank who is riskier than whom. Where to draw the approval line is a business decision.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02920"/>
            <a:ext cx="146304" cy="146304"/>
          </a:xfrm>
          <a:prstGeom prst="ellipse">
            <a:avLst/>
          </a:prstGeom>
          <a:solidFill>
            <a:srgbClr val="C44E52"/>
          </a:solidFill>
          <a:ln w="12700">
            <a:solidFill>
              <a:srgbClr val="C44E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320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giant, connected picture per applicant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applicant's file combines the loan application itself with their history from other lenders and their own past dealings with Home Credit.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283464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06324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307,511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68680" y="402336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applications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566160" y="283464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306324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1.7M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703320" y="402336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credit records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(other lenders)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0" y="283464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306324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13.6M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537960" y="402336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repayment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235440" y="283464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9235440" y="306324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9372600" y="402336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data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sources, in total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here is a sample — every number above comes from scanning the full tables.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02920"/>
            <a:ext cx="146304" cy="146304"/>
          </a:xfrm>
          <a:prstGeom prst="ellipse">
            <a:avLst/>
          </a:prstGeom>
          <a:solidFill>
            <a:srgbClr val="C44E52"/>
          </a:solidFill>
          <a:ln w="12700">
            <a:solidFill>
              <a:srgbClr val="C44E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320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CATCH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"92% accurate" would be a bad model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8% of past applicants actually defaulted. That imbalance changes what a good model looks like.</a:t>
            </a:r>
            <a:endParaRPr lang="en-US" sz="15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822960" y="2377440"/>
          <a:ext cx="475488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035040" y="2468880"/>
            <a:ext cx="5394960" cy="3657600"/>
          </a:xfrm>
          <a:prstGeom prst="roundRect">
            <a:avLst>
              <a:gd name="adj" fmla="val 3000"/>
            </a:avLst>
          </a:prstGeom>
          <a:solidFill>
            <a:srgbClr val="F4F6FB"/>
          </a:solidFill>
          <a:ln/>
        </p:spPr>
      </p:sp>
      <p:sp>
        <p:nvSpPr>
          <p:cNvPr id="8" name="Text 5"/>
          <p:cNvSpPr/>
          <p:nvPr/>
        </p:nvSpPr>
        <p:spPr>
          <a:xfrm>
            <a:off x="6309360" y="274320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that always guesses “will repay” would score 92% “accurate” — while being completely useless for spotting risk.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309360" y="411480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why this project measures models with a different score — one that checks how well a model tells risky and safe applicants apart, not just how often it's “right.”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02920"/>
            <a:ext cx="146304" cy="146304"/>
          </a:xfrm>
          <a:prstGeom prst="ellipse">
            <a:avLst/>
          </a:prstGeom>
          <a:solidFill>
            <a:srgbClr val="C44E52"/>
          </a:solidFill>
          <a:ln w="12700">
            <a:solidFill>
              <a:srgbClr val="C44E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320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THE DATA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“Employed for 1,000 years”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quality check found something odd hiding in the numbers.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2377440"/>
            <a:ext cx="10698480" cy="13716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56032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44E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365,243 days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663440" y="2514600"/>
            <a:ext cx="6492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placeholder value appearing for 18% of applicants — almost all of them retirees — meaning “not currently employed,” not a real number of days.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114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457200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as-is, this single value would have distorted the model's understanding of employment length. It was recoded as “missing” plus a clear flag — so the model learns the real pattern instead of a data glitch.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02920"/>
            <a:ext cx="146304" cy="146304"/>
          </a:xfrm>
          <a:prstGeom prst="ellipse">
            <a:avLst/>
          </a:prstGeom>
          <a:solidFill>
            <a:srgbClr val="C44E52"/>
          </a:solidFill>
          <a:ln w="12700">
            <a:solidFill>
              <a:srgbClr val="C44E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320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POINT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first, simple model already beat guessing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822960" y="1828800"/>
          <a:ext cx="56692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858000" y="2011680"/>
            <a:ext cx="4572000" cy="3840480"/>
          </a:xfrm>
          <a:prstGeom prst="roundRect">
            <a:avLst>
              <a:gd name="adj" fmla="val 2857"/>
            </a:avLst>
          </a:prstGeom>
          <a:solidFill>
            <a:srgbClr val="F4F6FB"/>
          </a:solidFill>
          <a:ln/>
        </p:spPr>
      </p:sp>
      <p:sp>
        <p:nvSpPr>
          <p:cNvPr id="7" name="Text 4"/>
          <p:cNvSpPr/>
          <p:nvPr/>
        </p:nvSpPr>
        <p:spPr>
          <a:xfrm>
            <a:off x="7132320" y="22402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proves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132320" y="274320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only the raw application form — no extra history — the model already scores well above random guessing.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132320" y="4114800"/>
            <a:ext cx="4023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score becomes the bar every more advanced model must clear to justify its added complexity.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02920"/>
            <a:ext cx="146304" cy="146304"/>
          </a:xfrm>
          <a:prstGeom prst="ellipse">
            <a:avLst/>
          </a:prstGeom>
          <a:solidFill>
            <a:srgbClr val="C44E52"/>
          </a:solidFill>
          <a:ln w="12700">
            <a:solidFill>
              <a:srgbClr val="C44E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320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MORE HISTORY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Giving the model a fuller picture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application form, the model was given a summarized history of each applicant.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2359152"/>
            <a:ext cx="128016" cy="128016"/>
          </a:xfrm>
          <a:prstGeom prst="ellipse">
            <a:avLst/>
          </a:prstGeom>
          <a:solidFill>
            <a:srgbClr val="C44E52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21284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ratios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931920" y="221284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big is this loan compared to their income and goods price?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108960"/>
            <a:ext cx="128016" cy="128016"/>
          </a:xfrm>
          <a:prstGeom prst="ellipse">
            <a:avLst/>
          </a:prstGeom>
          <a:solidFill>
            <a:srgbClr val="C44E52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296265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&amp; employment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931920" y="2962656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old are they, how long employed — with the sentinel issue fixed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858768"/>
            <a:ext cx="128016" cy="128016"/>
          </a:xfrm>
          <a:prstGeom prst="ellipse">
            <a:avLst/>
          </a:prstGeom>
          <a:solidFill>
            <a:srgbClr val="C44E52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371246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 history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931920" y="3712464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past credits elsewhere, how much owed, any overdue flags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4608576"/>
            <a:ext cx="128016" cy="128016"/>
          </a:xfrm>
          <a:prstGeom prst="ellipse">
            <a:avLst/>
          </a:prstGeom>
          <a:solidFill>
            <a:srgbClr val="C44E52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446227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Credit history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931920" y="4462272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their past applications and payments here actually went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1520" y="5358384"/>
            <a:ext cx="128016" cy="128016"/>
          </a:xfrm>
          <a:prstGeom prst="ellipse">
            <a:avLst/>
          </a:prstGeom>
          <a:solidFill>
            <a:srgbClr val="C44E52"/>
          </a:solidFill>
          <a:ln/>
        </p:spPr>
      </p:sp>
      <p:sp>
        <p:nvSpPr>
          <p:cNvPr id="19" name="Text 17"/>
          <p:cNvSpPr/>
          <p:nvPr/>
        </p:nvSpPr>
        <p:spPr>
          <a:xfrm>
            <a:off x="1051560" y="52120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behavior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931920" y="521208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of their available credit they typically use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14.3% of applicants had no bureau history at all — direct, measured confirmation that Home Credit really does serve first-time/thin-file borrowers.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02920"/>
            <a:ext cx="146304" cy="146304"/>
          </a:xfrm>
          <a:prstGeom prst="ellipse">
            <a:avLst/>
          </a:prstGeom>
          <a:solidFill>
            <a:srgbClr val="C44E52"/>
          </a:solidFill>
          <a:ln w="12700">
            <a:solidFill>
              <a:srgbClr val="C44E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320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PICKING A WINNER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candidates, one clear winner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1737360"/>
          <a:ext cx="1088136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731520" y="61722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(highlighted) won clearly — beating a well-known alternative (XGBoost) and every simpler model, on identical data and identical tests.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146304" cy="146304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final model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0.78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1.00 — measured on applicants the model never saw during training or tuning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0" y="1737360"/>
            <a:ext cx="630936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0" y="19659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typical cutoff: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303520" y="24688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C7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Catches about 7 in 10 real defaulters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303520" y="29260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But only 1 in 5 flagged applicants actually defaults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303520" y="3566160"/>
            <a:ext cx="57607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real trade-off: catching more true defaulters means flagging more good applicants too. Where to set that cutoff is a business decision, guided by which mistake costs more — not a fixed data-science answer.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02920"/>
            <a:ext cx="146304" cy="146304"/>
          </a:xfrm>
          <a:prstGeom prst="ellipse">
            <a:avLst/>
          </a:prstGeom>
          <a:solidFill>
            <a:srgbClr val="C44E52"/>
          </a:solidFill>
          <a:ln w="12700">
            <a:solidFill>
              <a:srgbClr val="C44E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320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THE DECISION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model gets its signal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1737360"/>
          <a:ext cx="108813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731520" y="61722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half the model's decision-making leans on external credit-bureau scores Home Credit already has access to. The custom-built features still earn real, meaningful weight beyond that.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02920"/>
            <a:ext cx="146304" cy="146304"/>
          </a:xfrm>
          <a:prstGeom prst="ellipse">
            <a:avLst/>
          </a:prstGeom>
          <a:solidFill>
            <a:srgbClr val="C44E52"/>
          </a:solidFill>
          <a:ln w="12700">
            <a:solidFill>
              <a:srgbClr val="C44E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320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HONEST ABOUT LIMITS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model doesn't do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10698480" cy="960120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938528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Relies on outside scores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206240" y="1938528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half its accuracy comes from bureau scores the business doesn't control or fully explain.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926080"/>
            <a:ext cx="10698480" cy="960120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035808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modest gender gap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06240" y="3035808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 were flagged as risky more often than women (43% vs. 27%) at the chosen cutoff — noted for awareness, not yet acted on.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4023360"/>
            <a:ext cx="10698480" cy="960120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4133088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data, not the future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206240" y="4133088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historical outcomes from one lender — no guarantee it holds under different economic conditions.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5120640"/>
            <a:ext cx="10698480" cy="960120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5230368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correct answer, chosen once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206240" y="5230368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approval cutoff was set for illustration — the business still needs to weigh in on the real trade-off.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bottom line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21945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model tells you who is riskier than whom — not what to actually do about it.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3456432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32461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more costly to the business — one missed default, or several good applicants wrongly rejected?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4233672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40233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modest gender gap worth investigating further before wider use?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5010912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48006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the model include more history sources not yet used?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3017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questions for this room to weigh in on: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2026-08-19T18:20:46Z</dcterms:created>
  <dcterms:modified xsi:type="dcterms:W3CDTF">2026-08-19T18:20:46Z</dcterms:modified>
</cp:coreProperties>
</file>