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-102" y="-7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de-DE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AUC</c:v>
                </c:pt>
              </c:strCache>
            </c:strRef>
          </c:tx>
          <c:spPr>
            <a:solidFill>
              <a:srgbClr val="5B6472"/>
            </a:solidFill>
            <a:effectLst/>
          </c:spPr>
          <c:dPt>
            <c:idx val="0"/>
          </c:dPt>
          <c:dPt>
            <c:idx val="1"/>
            <c:spPr>
              <a:solidFill>
                <a:srgbClr val="6E7A8A"/>
              </a:solidFill>
              <a:effectLst/>
            </c:spPr>
          </c:dPt>
          <c:dPt>
            <c:idx val="2"/>
            <c:spPr>
              <a:solidFill>
                <a:srgbClr val="142438"/>
              </a:solidFill>
              <a:effectLst/>
            </c:spPr>
          </c:dPt>
          <c:dPt>
            <c:idx val="3"/>
            <c:spPr>
              <a:solidFill>
                <a:srgbClr val="2E8B7C"/>
              </a:solidFill>
              <a:effectLst/>
            </c:spPr>
          </c:dPt>
          <c:dLbls>
            <c:numFmt formatCode="0.000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A1E24"/>
                    </a:solidFill>
                    <a:latin typeface="Arial"/>
                  </a:defRPr>
                </a:pPr>
                <a:endParaRPr lang="de-DE"/>
              </a:p>
            </c:txPr>
            <c:showVal val="1"/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 Forest
(tuned)</c:v>
                </c:pt>
                <c:pt idx="2">
                  <c:v>LightGBM
(baseline)</c:v>
                </c:pt>
                <c:pt idx="3">
                  <c:v>LightGBM
(+ new features)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0.74720000000000009</c:v>
                </c:pt>
                <c:pt idx="1">
                  <c:v>0.75190000000000012</c:v>
                </c:pt>
                <c:pt idx="2">
                  <c:v>0.76190000000000013</c:v>
                </c:pt>
                <c:pt idx="3">
                  <c:v>0.76910000000000012</c:v>
                </c:pt>
              </c:numCache>
            </c:numRef>
          </c:val>
        </c:ser>
        <c:dLbls>
          <c:showVal val="1"/>
        </c:dLbls>
        <c:gapWidth val="35"/>
        <c:axId val="151712896"/>
        <c:axId val="151714432"/>
      </c:barChart>
      <c:catAx>
        <c:axId val="15171289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E24"/>
                </a:solidFill>
                <a:latin typeface="Arial"/>
              </a:defRPr>
            </a:pPr>
            <a:endParaRPr lang="de-DE"/>
          </a:p>
        </c:txPr>
        <c:crossAx val="151714432"/>
        <c:crosses val="autoZero"/>
        <c:auto val="1"/>
        <c:lblAlgn val="ctr"/>
        <c:lblOffset val="100"/>
        <c:noMultiLvlLbl val="1"/>
      </c:catAx>
      <c:valAx>
        <c:axId val="151714432"/>
        <c:scaling>
          <c:orientation val="minMax"/>
          <c:max val="0.8"/>
          <c:min val="0.70000000000000007"/>
        </c:scaling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de-DE"/>
          </a:p>
        </c:txPr>
        <c:crossAx val="151712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de-DE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(gain)</c:v>
                </c:pt>
              </c:strCache>
            </c:strRef>
          </c:tx>
          <c:spPr>
            <a:solidFill>
              <a:srgbClr val="D98E3F"/>
            </a:solidFill>
            <a:effectLst/>
          </c:spPr>
          <c:dPt>
            <c:idx val="0"/>
          </c:dPt>
          <c:dPt>
            <c:idx val="1"/>
            <c:spPr>
              <a:solidFill>
                <a:srgbClr val="2E8B7C"/>
              </a:solidFill>
              <a:effectLst/>
            </c:spPr>
          </c:dPt>
          <c:dPt>
            <c:idx val="2"/>
            <c:spPr>
              <a:solidFill>
                <a:srgbClr val="2E8B7C"/>
              </a:solidFill>
              <a:effectLst/>
            </c:spPr>
          </c:dPt>
          <c:dPt>
            <c:idx val="3"/>
            <c:spPr>
              <a:solidFill>
                <a:srgbClr val="2E8B7C"/>
              </a:solidFill>
              <a:effectLst/>
            </c:spPr>
          </c:dPt>
          <c:dPt>
            <c:idx val="4"/>
          </c:dPt>
          <c:dPt>
            <c:idx val="5"/>
            <c:spPr>
              <a:solidFill>
                <a:srgbClr val="2E8B7C"/>
              </a:solidFill>
              <a:effectLst/>
            </c:spPr>
          </c:dPt>
          <c:dPt>
            <c:idx val="6"/>
            <c:spPr>
              <a:solidFill>
                <a:srgbClr val="2E8B7C"/>
              </a:solidFill>
              <a:effectLst/>
            </c:spPr>
          </c:dPt>
          <c:dPt>
            <c:idx val="7"/>
            <c:spPr>
              <a:solidFill>
                <a:srgbClr val="2E8B7C"/>
              </a:solidFill>
              <a:effectLst/>
            </c:spPr>
          </c:dPt>
          <c:dPt>
            <c:idx val="8"/>
            <c:spPr>
              <a:solidFill>
                <a:srgbClr val="2E8B7C"/>
              </a:solidFill>
              <a:effectLst/>
            </c:spPr>
          </c:dPt>
          <c:dPt>
            <c:idx val="9"/>
            <c:spPr>
              <a:solidFill>
                <a:srgbClr val="2E8B7C"/>
              </a:solidFill>
              <a:effectLst/>
            </c:spPr>
          </c:dPt>
          <c:cat>
            <c:strRef>
              <c:f>Sheet1!$A$2:$A$11</c:f>
              <c:strCache>
                <c:ptCount val="10"/>
                <c:pt idx="0">
                  <c:v>AVG_DAYS_LATE</c:v>
                </c:pt>
                <c:pt idx="1">
                  <c:v>AMT_ANNUITY</c:v>
                </c:pt>
                <c:pt idx="2">
                  <c:v>AMT_GOODS_PRICE</c:v>
                </c:pt>
                <c:pt idx="3">
                  <c:v>DAYS_BIRTH</c:v>
                </c:pt>
                <c:pt idx="4">
                  <c:v>AVG_PAYMENT_RATIO</c:v>
                </c:pt>
                <c:pt idx="5">
                  <c:v>AMT_CREDIT</c:v>
                </c:pt>
                <c:pt idx="6">
                  <c:v>DAYS_EMPLOYED</c:v>
                </c:pt>
                <c:pt idx="7">
                  <c:v>EXT_SOURCE_1</c:v>
                </c:pt>
                <c:pt idx="8">
                  <c:v>EXT_SOURCE_2</c:v>
                </c:pt>
                <c:pt idx="9">
                  <c:v>EXT_SOURCE_3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17679</c:v>
                </c:pt>
                <c:pt idx="1">
                  <c:v>18343</c:v>
                </c:pt>
                <c:pt idx="2">
                  <c:v>19844</c:v>
                </c:pt>
                <c:pt idx="3">
                  <c:v>21210</c:v>
                </c:pt>
                <c:pt idx="4">
                  <c:v>21782</c:v>
                </c:pt>
                <c:pt idx="5">
                  <c:v>26728</c:v>
                </c:pt>
                <c:pt idx="6">
                  <c:v>36160</c:v>
                </c:pt>
                <c:pt idx="7">
                  <c:v>61346</c:v>
                </c:pt>
                <c:pt idx="8">
                  <c:v>150788</c:v>
                </c:pt>
                <c:pt idx="9">
                  <c:v>189609</c:v>
                </c:pt>
              </c:numCache>
            </c:numRef>
          </c:val>
        </c:ser>
        <c:dLbls/>
        <c:gapWidth val="40"/>
        <c:axId val="151177472"/>
        <c:axId val="151179264"/>
      </c:barChart>
      <c:catAx>
        <c:axId val="151177472"/>
        <c:scaling>
          <c:orientation val="minMax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E24"/>
                </a:solidFill>
                <a:latin typeface="Arial"/>
              </a:defRPr>
            </a:pPr>
            <a:endParaRPr lang="de-DE"/>
          </a:p>
        </c:txPr>
        <c:crossAx val="151179264"/>
        <c:crosses val="autoZero"/>
        <c:auto val="1"/>
        <c:lblAlgn val="ctr"/>
        <c:lblOffset val="100"/>
        <c:noMultiLvlLbl val="1"/>
      </c:catAx>
      <c:valAx>
        <c:axId val="151179264"/>
        <c:scaling>
          <c:orientation val="minMax"/>
        </c:scaling>
        <c:axPos val="b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de-DE"/>
          </a:p>
        </c:txPr>
        <c:crossAx val="151177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de-DE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A1E24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1A1E24"/>
                </a:solidFill>
                <a:latin typeface="Arial"/>
              </a:rPr>
              <a:t>% of Actual Defaulters Missed by the Model, by Age Group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Missed-defaulter rate</c:v>
                </c:pt>
              </c:strCache>
            </c:strRef>
          </c:tx>
          <c:spPr>
            <a:solidFill>
              <a:srgbClr val="D98E3F"/>
            </a:solidFill>
            <a:effectLst/>
          </c:spPr>
          <c:dLbls>
            <c:numFmt formatCode="0.0&quot;%&quot;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A1E24"/>
                    </a:solidFill>
                    <a:latin typeface="Arial"/>
                  </a:defRPr>
                </a:pPr>
                <a:endParaRPr lang="de-DE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20-30</c:v>
                </c:pt>
                <c:pt idx="1">
                  <c:v>30-40</c:v>
                </c:pt>
                <c:pt idx="2">
                  <c:v>40-50</c:v>
                </c:pt>
                <c:pt idx="3">
                  <c:v>50-60</c:v>
                </c:pt>
                <c:pt idx="4">
                  <c:v>60-70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</c:v>
                </c:pt>
                <c:pt idx="1">
                  <c:v>26.3</c:v>
                </c:pt>
                <c:pt idx="2">
                  <c:v>36.5</c:v>
                </c:pt>
                <c:pt idx="3">
                  <c:v>48.1</c:v>
                </c:pt>
                <c:pt idx="4">
                  <c:v>65.599999999999994</c:v>
                </c:pt>
              </c:numCache>
            </c:numRef>
          </c:val>
        </c:ser>
        <c:dLbls>
          <c:showVal val="1"/>
        </c:dLbls>
        <c:gapWidth val="30"/>
        <c:axId val="154484736"/>
        <c:axId val="154486272"/>
      </c:barChart>
      <c:catAx>
        <c:axId val="15448473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E24"/>
                </a:solidFill>
                <a:latin typeface="Arial"/>
              </a:defRPr>
            </a:pPr>
            <a:endParaRPr lang="de-DE"/>
          </a:p>
        </c:txPr>
        <c:crossAx val="154486272"/>
        <c:crosses val="autoZero"/>
        <c:auto val="1"/>
        <c:lblAlgn val="ctr"/>
        <c:lblOffset val="100"/>
        <c:noMultiLvlLbl val="1"/>
      </c:catAx>
      <c:valAx>
        <c:axId val="154486272"/>
        <c:scaling>
          <c:orientation val="minMax"/>
        </c:scaling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de-DE"/>
          </a:p>
        </c:txPr>
        <c:crossAx val="154484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Loan Default Risk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— Milestones 1–3 Update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Lifecycle   •   EDA  &gt;  Baseline  &gt;  Error Analysis  &gt;  Feature Engineering  &gt;  Deliverables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serves clients with little or no credit history — a group traditional scoring often gets wrong.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3B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98E3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risky applicant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4747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struggles to repay → loss on the loan, collections cost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3B2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8B7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 reliable applicant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4747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would have repaid fine → lost revenue, poor experience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7F8FA"/>
          </a:solidFill>
          <a:ln/>
          <a:effectLst>
            <a:outerShdw blurRad="76200" dist="25400" dir="5400000" algn="bl" rotWithShape="0">
              <a:srgbClr val="9AA3B2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E7A8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Thin-file applicants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4747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applicants lack traditional credit history entirely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 Are We Creating?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losses from default while keeping good applicants approved.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AUC-ROC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highly imbalanced: ~92% repay, ~8% default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 here — always predicting “no default” scores ~92%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measures ranking ability across all thresholds — matches the original Kaggle competition metric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920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AUC: business framing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242316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AUC with precision/recall at a chosen approval threshold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defaulters) are typically the costly error for a lender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land better as: “catches X% of defaults while rejecting only Y% of good applicants”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89320" y="1965960"/>
            <a:ext cx="13716" cy="2286000"/>
          </a:xfrm>
          <a:prstGeom prst="rect">
            <a:avLst/>
          </a:prstGeom>
          <a:solidFill>
            <a:srgbClr val="E3E6EA"/>
          </a:solidFill>
          <a:ln/>
        </p:spPr>
      </p:sp>
      <p:sp>
        <p:nvSpPr>
          <p:cNvPr id="9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dataset (Kaggle) — application-level table plus related credit history tables.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424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305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60520" y="196596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42438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21305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6052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96596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4243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1305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8096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tables (for later iteration)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bureau.csv — credit history from other institutions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previous_application.csv — applicant's past applications with Home Credit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installments_payments.csv — historical repayment behavior (~13.6M rows)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POS_CASH_balance.csv, credit_card_balance.csv — monthly balance snapshots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Challenges We Addressed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E8B7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 / 8% split — used class weighting, stratified splits, and AUC instead of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3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unevenly distributed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31927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columns &gt;50% missing. Kept EXT_SOURCE_1 despite 56% missing — it's one of the strongest predictors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B5FB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3434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placeholder value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73659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DAYS_EMPLOYED had a 365243 (~1000-year) code for non-employed applicants in 18% of rows — replaced with a proper missing flag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 rot="5400000">
            <a:off x="2290572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6" name="Shape 4"/>
          <p:cNvSpPr/>
          <p:nvPr/>
        </p:nvSpPr>
        <p:spPr>
          <a:xfrm>
            <a:off x="2441448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41448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5400000">
            <a:off x="4091940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9" name="Shape 7"/>
          <p:cNvSpPr/>
          <p:nvPr/>
        </p:nvSpPr>
        <p:spPr>
          <a:xfrm>
            <a:off x="4242816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rot="5400000">
            <a:off x="5893308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2" name="Shape 10"/>
          <p:cNvSpPr/>
          <p:nvPr/>
        </p:nvSpPr>
        <p:spPr>
          <a:xfrm>
            <a:off x="6044184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4184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5400000">
            <a:off x="7694676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5" name="Shape 13"/>
          <p:cNvSpPr/>
          <p:nvPr/>
        </p:nvSpPr>
        <p:spPr>
          <a:xfrm>
            <a:off x="7845552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5552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5400000">
            <a:off x="9496044" y="2807208"/>
            <a:ext cx="146304" cy="146304"/>
          </a:xfrm>
          <a:prstGeom prst="triangle">
            <a:avLst/>
          </a:prstGeom>
          <a:solidFill>
            <a:srgbClr val="5B6472"/>
          </a:solidFill>
          <a:ln/>
        </p:spPr>
      </p:sp>
      <p:sp>
        <p:nvSpPr>
          <p:cNvPr id="18" name="Shape 16"/>
          <p:cNvSpPr/>
          <p:nvPr/>
        </p:nvSpPr>
        <p:spPr>
          <a:xfrm>
            <a:off x="9646920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2E8B7C"/>
          </a:solidFill>
          <a:ln w="12700">
            <a:solidFill>
              <a:srgbClr val="2E8B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23774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available in the Milestone 1 baseline notebook.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M1 to M3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evaluated on the same held-out validation set (20% stratified split).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92024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23760" y="246888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wins throughout — typical for tabular data with many features and missing values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bureau + repayment history features improved LightGBM by +0.72 AUC points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improved too with the same features, confirming the signal is real, not model-specific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Model?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LightGBM importance (gain) — final model with engineered features.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874520"/>
          <a:ext cx="78638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915400" y="21031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98E3F"/>
          </a:solidFill>
          <a:ln/>
        </p:spPr>
      </p:sp>
      <p:sp>
        <p:nvSpPr>
          <p:cNvPr id="6" name="Text 3"/>
          <p:cNvSpPr/>
          <p:nvPr/>
        </p:nvSpPr>
        <p:spPr>
          <a:xfrm>
            <a:off x="918972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engineering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What Happens at Decision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standard 50/50 cutoff, the model faces a real trade-off between two costly mistakes.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4243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defaulters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caught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538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42438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“risky” flags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default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0" y="3538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(Precision)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9244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42316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genuine defaulter caught, ~5 good applicants get flagged as risky too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cutoff is “correct” — it depends on the relative cost of each error type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business decision, not a modeling 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10607040" cy="640080"/>
          </a:xfrm>
          <a:prstGeom prst="rect">
            <a:avLst/>
          </a:prstGeom>
          <a:solidFill>
            <a:srgbClr val="F7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 for the team: what's more costly — one missed default, or several wrongly rejected good applicants?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A Reliability Gap by 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applicants default less often overall — but when they do, the model is far more likely to miss it.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87452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0" y="24688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“older = safer” as a strong general rule — which is mostly true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overconfident about the rare exceptions who do default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fairness issue in the usual sense — older applicants are treated more leniently overall, not less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a real reliability gap worth monitoring before deployment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E8B7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complete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019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threshold trade-offs, and segment-level errors identified — the age effect is the standout finding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8E3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added real signal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2735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+ repayment history features improved LightGBM from 0.7619 to 0.7691 AUC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8B5FB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 compared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464515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 (tuned, cross-validated), and LightGBM — LightGBM wins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going into Milestone 4: LightGBM + bureau + installment features (AUC 0.7691)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1D2E4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Decision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2788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stakeholder input on relative cost of missed defaults vs. wrongly rejected applicants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deployment threshold accordingly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1D2E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737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2788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calibration adjustments for older / non-employed applicants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this reliability gap post-deployment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55280" y="146304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1D2E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737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2286000"/>
            <a:ext cx="2788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the best model (LightGBM + engineered features)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final presentation and documentation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(Day 4, 13:00): final deliverables and presentation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Custom</PresentationFormat>
  <Paragraphs>136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Micho</cp:lastModifiedBy>
  <cp:revision>1</cp:revision>
  <dcterms:created xsi:type="dcterms:W3CDTF">2026-08-17T15:41:18Z</dcterms:created>
  <dcterms:modified xsi:type="dcterms:W3CDTF">2026-08-17T15:43:52Z</dcterms:modified>
</cp:coreProperties>
</file>