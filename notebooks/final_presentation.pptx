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</c:v>
                </c:pt>
              </c:strCache>
            </c:strRef>
          </c:tx>
          <c:spPr>
            <a:solidFill>
              <a:srgbClr val="5B647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4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7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43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Random Forest
(tuned)</c:v>
                  </c:pt>
                  <c:pt idx="2">
                    <c:v>LightGBM
(baseline)</c:v>
                  </c:pt>
                  <c:pt idx="3">
                    <c:v>LightGBM
(+ new features)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0.7472</c:v>
                </c:pt>
                <c:pt idx="1">
                  <c:v>0.7519</c:v>
                </c:pt>
                <c:pt idx="2">
                  <c:v>0.7619</c:v>
                </c:pt>
                <c:pt idx="3">
                  <c:v>0.7691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E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E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7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(gain)</c:v>
                </c:pt>
              </c:strCache>
            </c:strRef>
          </c:tx>
          <c:spPr>
            <a:solidFill>
              <a:srgbClr val="D98E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8E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8E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8B7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AVG_DAYS_LATE</c:v>
                  </c:pt>
                  <c:pt idx="1">
                    <c:v>AMT_ANNUITY</c:v>
                  </c:pt>
                  <c:pt idx="2">
                    <c:v>AMT_GOODS_PRICE</c:v>
                  </c:pt>
                  <c:pt idx="3">
                    <c:v>DAYS_BIRTH</c:v>
                  </c:pt>
                  <c:pt idx="4">
                    <c:v>AVG_PAYMENT_RATIO</c:v>
                  </c:pt>
                  <c:pt idx="5">
                    <c:v>AMT_CREDIT</c:v>
                  </c:pt>
                  <c:pt idx="6">
                    <c:v>DAYS_EMPLOYED</c:v>
                  </c:pt>
                  <c:pt idx="7">
                    <c:v>EXT_SOURCE_1</c:v>
                  </c:pt>
                  <c:pt idx="8">
                    <c:v>EXT_SOURCE_2</c:v>
                  </c:pt>
                  <c:pt idx="9">
                    <c:v>EXT_SOURCE_3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17679</c:v>
                </c:pt>
                <c:pt idx="1">
                  <c:v>18343</c:v>
                </c:pt>
                <c:pt idx="2">
                  <c:v>19844</c:v>
                </c:pt>
                <c:pt idx="3">
                  <c:v>21210</c:v>
                </c:pt>
                <c:pt idx="4">
                  <c:v>21782</c:v>
                </c:pt>
                <c:pt idx="5">
                  <c:v>26728</c:v>
                </c:pt>
                <c:pt idx="6">
                  <c:v>36160</c:v>
                </c:pt>
                <c:pt idx="7">
                  <c:v>61346</c:v>
                </c:pt>
                <c:pt idx="8">
                  <c:v>150788</c:v>
                </c:pt>
                <c:pt idx="9">
                  <c:v>189609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E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A1E24"/>
                </a:solidFill>
                <a:latin typeface="Arial"/>
              </a:defRPr>
            </a:pPr>
            <a:r>
              <a:rPr sz="1250" b="0" i="0" u="none" strike="noStrike">
                <a:solidFill>
                  <a:srgbClr val="1A1E24"/>
                </a:solidFill>
                <a:latin typeface="Arial"/>
              </a:rPr>
              <a:t>% of Actual Defaulters Missed by the Model,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Missed-defaulter rate</c:v>
                </c:pt>
              </c:strCache>
            </c:strRef>
          </c:tx>
          <c:spPr>
            <a:solidFill>
              <a:srgbClr val="D98E3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20-30</c:v>
                  </c:pt>
                  <c:pt idx="1">
                    <c:v>30-40</c:v>
                  </c:pt>
                  <c:pt idx="2">
                    <c:v>40-50</c:v>
                  </c:pt>
                  <c:pt idx="3">
                    <c:v>50-60</c:v>
                  </c:pt>
                  <c:pt idx="4">
                    <c:v>60-70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26.3</c:v>
                </c:pt>
                <c:pt idx="2">
                  <c:v>36.5</c:v>
                </c:pt>
                <c:pt idx="3">
                  <c:v>48.1</c:v>
                </c:pt>
                <c:pt idx="4">
                  <c:v>65.6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E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E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Loan Default Risk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— Final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Lifecycle   •   EDA  &gt;  Baseline  &gt;  Error Analysis  &gt;  Feature Engineering  &gt;  Deliverables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serves clients with little or no credit history — a group traditional scoring often gets wrong.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8E3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risky applicant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4747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struggles to repay → loss on the loan, collections cost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B7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 reliable applicant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4747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would have repaid fine → lost revenue, poor experience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AA3B2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E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Thin-file applicants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4747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applicants lack traditional credit history entirely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 Are We Creating?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losses from default while keeping good applicants approved.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AUC-ROC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highly imbalanced: ~92% repay, ~8% default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here — always predicting “no default” scores ~92%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ranking ability across all thresholds — matches the original Kaggle competition metric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AUC: business framing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24231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AUC with precision/recall at a chosen approval threshold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defaulters) are typically the costly error for a lender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land better as: “catches X% of defaults while rejecting only Y% of good applicants”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1965960"/>
            <a:ext cx="13716" cy="2286000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dataset (Kaggle) — application-level table plus related credit history tables.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424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305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0" y="196596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42438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21305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6052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96596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4243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1305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8096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tables (for later iteration)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bureau.csv — credit history from other institutions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previous_application.csv — applicant's past applications with Home Credit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installments_payments.csv — historical repayment behavior (~13.6M rows)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POS_CASH_balance.csv, credit_card_balance.csv — monthly balance snapshots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Challenges We Addressed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8B7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 / 8% split — used class weighting, stratified splits, and AUC instead of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unevenly distributed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31927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columns &gt;50% missing. Kept EXT_SOURCE_1 despite 56% missing — it's one of the strongest predictors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B5FB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placeholder value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73659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 had a 365243 (~1000-year) code for non-employed applicants in 18% of rows — replaced with a proper missing flag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rot="5400000">
            <a:off x="2290572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6" name="Shape 4"/>
          <p:cNvSpPr/>
          <p:nvPr/>
        </p:nvSpPr>
        <p:spPr>
          <a:xfrm>
            <a:off x="2441448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41448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5400000">
            <a:off x="4091940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9" name="Shape 7"/>
          <p:cNvSpPr/>
          <p:nvPr/>
        </p:nvSpPr>
        <p:spPr>
          <a:xfrm>
            <a:off x="4242816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5400000">
            <a:off x="5893308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2" name="Shape 10"/>
          <p:cNvSpPr/>
          <p:nvPr/>
        </p:nvSpPr>
        <p:spPr>
          <a:xfrm>
            <a:off x="6044184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5400000">
            <a:off x="7694676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5" name="Shape 13"/>
          <p:cNvSpPr/>
          <p:nvPr/>
        </p:nvSpPr>
        <p:spPr>
          <a:xfrm>
            <a:off x="7845552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5552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5400000">
            <a:off x="9496044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4692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2E8B7C"/>
          </a:solidFill>
          <a:ln w="12700">
            <a:solidFill>
              <a:srgbClr val="2E8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available in the Milestone 1 baseline notebook.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M1 to M3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evaluated on the same held-out validation set (20% stratified split).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23760" y="246888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wins throughout — typical for tabular data with many features and missing values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bureau + repayment history features improved LightGBM by +0.72 AUC points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improved too with the same features, confirming the signal is real, not model-specific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Model?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LightGBM importance (gain) — final model with engineered features.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74520"/>
          <a:ext cx="7863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915400" y="21031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98E3F"/>
          </a:solidFill>
          <a:ln/>
        </p:spPr>
      </p:sp>
      <p:sp>
        <p:nvSpPr>
          <p:cNvPr id="6" name="Text 3"/>
          <p:cNvSpPr/>
          <p:nvPr/>
        </p:nvSpPr>
        <p:spPr>
          <a:xfrm>
            <a:off x="918972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engineering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Happens at Decision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standard 50/50 cutoff, the model faces a real trade-off between two costly mistakes.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424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defaulters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caught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538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42438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“risky” flags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default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3538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(Precision)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924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42316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genuine defaulter caught, ~5 good applicants get flagged as risky too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cutoff is “correct” — it depends on the relative cost of each error type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business decision, not a modeling 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10607040" cy="640080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for the team: what's more costly — one missed default, or several wrongly rejected good applicants?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 Reliability Gap by 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applicants default less often overall — but when they do, the model is far more likely to miss it.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74520"/>
          <a:ext cx="6217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0" y="24688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“older = safer” as a strong general rule — which is mostly true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overconfident about the rare exceptions who do default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fairness issue in the usual sense — older applicants are treated more leniently overall, not less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a real reliability gap worth monitoring before deployment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8B7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complete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threshold trade-offs, and segment-level errors identified — the age effect is the standout finding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added real signal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2735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+ repayment history features improved LightGBM from 0.7619 to 0.7691 AUC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B5FB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 compared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6451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 (tuned, cross-validated), and LightGBM — LightGBM wins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going into Milestone 4: LightGBM + bureau + installment features (AUC 0.7691)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D2E4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bureau + repayment history features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artifact with a model card documenting limitations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D2E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737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 the full test set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submission / handoff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0" y="146304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D2E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737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228600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threshold — needs stakeholder input on error costs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Age-segment reliability gap — recommend monitoring post-deployment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2026-08-17T20:08:48Z</dcterms:created>
  <dcterms:modified xsi:type="dcterms:W3CDTF">2026-08-17T20:08:48Z</dcterms:modified>
</cp:coreProperties>
</file>